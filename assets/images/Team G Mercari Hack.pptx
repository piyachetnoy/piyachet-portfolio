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HiraKakuProN-W3" panose="020B0300000000000000" pitchFamily="34" charset="-128"/>
      <p:regular r:id="rId20"/>
    </p:embeddedFont>
    <p:embeddedFont>
      <p:font typeface="HiraMaruPro-W4" panose="020F0400000000000000" pitchFamily="34" charset="-128"/>
      <p:regular r:id="rId21"/>
    </p:embeddedFont>
    <p:embeddedFont>
      <p:font typeface="Montserrat" pitchFamily="2" charset="77"/>
      <p:regular r:id="rId22"/>
      <p:bold r:id="rId23"/>
      <p:italic r:id="rId24"/>
      <p:boldItalic r:id="rId25"/>
    </p:embeddedFont>
    <p:embeddedFont>
      <p:font typeface="Yu Gothic" panose="020B0400000000000000" pitchFamily="34" charset="-128"/>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p:restoredTop sz="94694"/>
  </p:normalViewPr>
  <p:slideViewPr>
    <p:cSldViewPr snapToGrid="0">
      <p:cViewPr varScale="1">
        <p:scale>
          <a:sx n="160" d="100"/>
          <a:sy n="160" d="100"/>
        </p:scale>
        <p:origin x="176"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1c8b85c48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1c8b85c48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1c8b85c486_1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31c8b85c486_1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1c8ae684eb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1c8ae684eb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1c8ae684eb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1c8ae684eb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1c8ae684eb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1c8ae684eb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1c8ae684e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1c8ae684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1c8ae684eb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1c8ae684e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1c8b85c486_1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1c8b85c486_1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1c8ae684e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1c8ae684e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1c8b85c486_1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1c8b85c486_1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1c8b85c486_1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1c8b85c486_1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1c8ae684eb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1c8ae684e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1c8ae684eb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1c8ae684e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c8ae684eb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1c8ae684e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1c8ae684eb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1c8ae684eb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8ae684eb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1c8ae684e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c8ae684eb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1c8ae684e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h"/>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表紙">
  <p:cSld name="CUSTOM_2">
    <p:spTree>
      <p:nvGrpSpPr>
        <p:cNvPr id="1"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0" y="0"/>
            <a:ext cx="9144000" cy="5143513"/>
          </a:xfrm>
          <a:prstGeom prst="rect">
            <a:avLst/>
          </a:prstGeom>
          <a:noFill/>
          <a:ln>
            <a:noFill/>
          </a:ln>
        </p:spPr>
      </p:pic>
      <p:sp>
        <p:nvSpPr>
          <p:cNvPr id="52" name="Google Shape;52;p13"/>
          <p:cNvSpPr txBox="1">
            <a:spLocks noGrp="1"/>
          </p:cNvSpPr>
          <p:nvPr>
            <p:ph type="title"/>
          </p:nvPr>
        </p:nvSpPr>
        <p:spPr>
          <a:xfrm>
            <a:off x="457200" y="814402"/>
            <a:ext cx="8229600" cy="1390800"/>
          </a:xfrm>
          <a:prstGeom prst="rect">
            <a:avLst/>
          </a:prstGeom>
        </p:spPr>
        <p:txBody>
          <a:bodyPr spcFirstLastPara="1" wrap="square" lIns="91425" tIns="91425" rIns="91425" bIns="91425" anchor="ctr" anchorCtr="0">
            <a:normAutofit/>
          </a:bodyPr>
          <a:lstStyle>
            <a:lvl1pPr lvl="0">
              <a:spcBef>
                <a:spcPts val="0"/>
              </a:spcBef>
              <a:spcAft>
                <a:spcPts val="0"/>
              </a:spcAft>
              <a:buNone/>
              <a:defRPr sz="3000"/>
            </a:lvl1pPr>
            <a:lvl2pPr lvl="1">
              <a:spcBef>
                <a:spcPts val="0"/>
              </a:spcBef>
              <a:spcAft>
                <a:spcPts val="0"/>
              </a:spcAft>
              <a:buNone/>
              <a:defRPr sz="3000"/>
            </a:lvl2pPr>
            <a:lvl3pPr lvl="2">
              <a:spcBef>
                <a:spcPts val="0"/>
              </a:spcBef>
              <a:spcAft>
                <a:spcPts val="0"/>
              </a:spcAft>
              <a:buNone/>
              <a:defRPr sz="3000"/>
            </a:lvl3pPr>
            <a:lvl4pPr lvl="3">
              <a:spcBef>
                <a:spcPts val="0"/>
              </a:spcBef>
              <a:spcAft>
                <a:spcPts val="0"/>
              </a:spcAft>
              <a:buNone/>
              <a:defRPr sz="3000"/>
            </a:lvl4pPr>
            <a:lvl5pPr lvl="4">
              <a:spcBef>
                <a:spcPts val="0"/>
              </a:spcBef>
              <a:spcAft>
                <a:spcPts val="0"/>
              </a:spcAft>
              <a:buNone/>
              <a:defRPr sz="3000"/>
            </a:lvl5pPr>
            <a:lvl6pPr lvl="5">
              <a:spcBef>
                <a:spcPts val="0"/>
              </a:spcBef>
              <a:spcAft>
                <a:spcPts val="0"/>
              </a:spcAft>
              <a:buNone/>
              <a:defRPr sz="3000"/>
            </a:lvl6pPr>
            <a:lvl7pPr lvl="6">
              <a:spcBef>
                <a:spcPts val="0"/>
              </a:spcBef>
              <a:spcAft>
                <a:spcPts val="0"/>
              </a:spcAft>
              <a:buNone/>
              <a:defRPr sz="3000"/>
            </a:lvl7pPr>
            <a:lvl8pPr lvl="7">
              <a:spcBef>
                <a:spcPts val="0"/>
              </a:spcBef>
              <a:spcAft>
                <a:spcPts val="0"/>
              </a:spcAft>
              <a:buNone/>
              <a:defRPr sz="3000"/>
            </a:lvl8pPr>
            <a:lvl9pPr lvl="8">
              <a:spcBef>
                <a:spcPts val="0"/>
              </a:spcBef>
              <a:spcAft>
                <a:spcPts val="0"/>
              </a:spcAft>
              <a:buNone/>
              <a:defRPr sz="3000"/>
            </a:lvl9pPr>
          </a:lstStyle>
          <a:p>
            <a:endParaRPr/>
          </a:p>
        </p:txBody>
      </p:sp>
      <p:pic>
        <p:nvPicPr>
          <p:cNvPr id="53" name="Google Shape;53;p13"/>
          <p:cNvPicPr preferRelativeResize="0"/>
          <p:nvPr/>
        </p:nvPicPr>
        <p:blipFill>
          <a:blip r:embed="rId3">
            <a:alphaModFix/>
          </a:blip>
          <a:stretch>
            <a:fillRect/>
          </a:stretch>
        </p:blipFill>
        <p:spPr>
          <a:xfrm>
            <a:off x="575175" y="4485850"/>
            <a:ext cx="1448751" cy="289750"/>
          </a:xfrm>
          <a:prstGeom prst="rect">
            <a:avLst/>
          </a:prstGeom>
          <a:noFill/>
          <a:ln>
            <a:noFill/>
          </a:ln>
        </p:spPr>
      </p:pic>
      <p:sp>
        <p:nvSpPr>
          <p:cNvPr id="54" name="Google Shape;54;p13"/>
          <p:cNvSpPr txBox="1">
            <a:spLocks noGrp="1"/>
          </p:cNvSpPr>
          <p:nvPr>
            <p:ph type="title" idx="2"/>
          </p:nvPr>
        </p:nvSpPr>
        <p:spPr>
          <a:xfrm>
            <a:off x="457200" y="2205202"/>
            <a:ext cx="8229600" cy="1390800"/>
          </a:xfrm>
          <a:prstGeom prst="rect">
            <a:avLst/>
          </a:prstGeom>
        </p:spPr>
        <p:txBody>
          <a:bodyPr spcFirstLastPara="1" wrap="square" lIns="91425" tIns="91425" rIns="91425" bIns="91425" anchor="t" anchorCtr="0">
            <a:normAutofit/>
          </a:bodyPr>
          <a:lstStyle>
            <a:lvl1pPr lvl="0">
              <a:spcBef>
                <a:spcPts val="0"/>
              </a:spcBef>
              <a:spcAft>
                <a:spcPts val="0"/>
              </a:spcAft>
              <a:buNone/>
              <a:defRPr/>
            </a:lvl1pPr>
            <a:lvl2pPr lvl="1">
              <a:spcBef>
                <a:spcPts val="0"/>
              </a:spcBef>
              <a:spcAft>
                <a:spcPts val="0"/>
              </a:spcAft>
              <a:buNone/>
              <a:defRPr sz="3000"/>
            </a:lvl2pPr>
            <a:lvl3pPr lvl="2">
              <a:spcBef>
                <a:spcPts val="0"/>
              </a:spcBef>
              <a:spcAft>
                <a:spcPts val="0"/>
              </a:spcAft>
              <a:buNone/>
              <a:defRPr sz="3000"/>
            </a:lvl3pPr>
            <a:lvl4pPr lvl="3">
              <a:spcBef>
                <a:spcPts val="0"/>
              </a:spcBef>
              <a:spcAft>
                <a:spcPts val="0"/>
              </a:spcAft>
              <a:buNone/>
              <a:defRPr sz="3000"/>
            </a:lvl4pPr>
            <a:lvl5pPr lvl="4">
              <a:spcBef>
                <a:spcPts val="0"/>
              </a:spcBef>
              <a:spcAft>
                <a:spcPts val="0"/>
              </a:spcAft>
              <a:buNone/>
              <a:defRPr sz="3000"/>
            </a:lvl5pPr>
            <a:lvl6pPr lvl="5">
              <a:spcBef>
                <a:spcPts val="0"/>
              </a:spcBef>
              <a:spcAft>
                <a:spcPts val="0"/>
              </a:spcAft>
              <a:buNone/>
              <a:defRPr sz="3000"/>
            </a:lvl6pPr>
            <a:lvl7pPr lvl="6">
              <a:spcBef>
                <a:spcPts val="0"/>
              </a:spcBef>
              <a:spcAft>
                <a:spcPts val="0"/>
              </a:spcAft>
              <a:buNone/>
              <a:defRPr sz="3000"/>
            </a:lvl7pPr>
            <a:lvl8pPr lvl="7">
              <a:spcBef>
                <a:spcPts val="0"/>
              </a:spcBef>
              <a:spcAft>
                <a:spcPts val="0"/>
              </a:spcAft>
              <a:buNone/>
              <a:defRPr sz="3000"/>
            </a:lvl8pPr>
            <a:lvl9pPr lvl="8">
              <a:spcBef>
                <a:spcPts val="0"/>
              </a:spcBef>
              <a:spcAft>
                <a:spcPts val="0"/>
              </a:spcAft>
              <a:buNone/>
              <a:defRPr sz="30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th"/>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www.youtube.com/watch?v=WJGU_BcL2IA"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ysFRaZyXAGg"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p:nvPr/>
        </p:nvSpPr>
        <p:spPr>
          <a:xfrm>
            <a:off x="457200" y="2205202"/>
            <a:ext cx="8229600" cy="139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th" sz="2400" b="1">
                <a:solidFill>
                  <a:srgbClr val="222222"/>
                </a:solidFill>
                <a:latin typeface="Montserrat"/>
                <a:ea typeface="Montserrat"/>
                <a:cs typeface="Montserrat"/>
                <a:sym typeface="Montserrat"/>
              </a:rPr>
              <a:t>team G</a:t>
            </a:r>
            <a:endParaRPr sz="2400" b="1">
              <a:solidFill>
                <a:srgbClr val="222222"/>
              </a:solidFill>
              <a:latin typeface="Montserrat"/>
              <a:ea typeface="Montserrat"/>
              <a:cs typeface="Montserrat"/>
              <a:sym typeface="Montserrat"/>
            </a:endParaRPr>
          </a:p>
        </p:txBody>
      </p:sp>
      <p:sp>
        <p:nvSpPr>
          <p:cNvPr id="60" name="Google Shape;60;p14"/>
          <p:cNvSpPr txBox="1"/>
          <p:nvPr/>
        </p:nvSpPr>
        <p:spPr>
          <a:xfrm>
            <a:off x="457200" y="814402"/>
            <a:ext cx="8229600" cy="139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th" sz="3000" b="1" dirty="0">
                <a:solidFill>
                  <a:srgbClr val="222222"/>
                </a:solidFill>
                <a:latin typeface="Yu Gothic" panose="020B0400000000000000" pitchFamily="34" charset="-128"/>
                <a:ea typeface="Yu Gothic" panose="020B0400000000000000" pitchFamily="34" charset="-128"/>
                <a:cs typeface="Montserrat"/>
                <a:sym typeface="Montserrat"/>
              </a:rPr>
              <a:t>〜メルプラン〜</a:t>
            </a:r>
            <a:endParaRPr sz="3000" b="1" dirty="0">
              <a:solidFill>
                <a:srgbClr val="222222"/>
              </a:solidFill>
              <a:latin typeface="Yu Gothic" panose="020B0400000000000000" pitchFamily="34" charset="-128"/>
              <a:ea typeface="Yu Gothic" panose="020B0400000000000000" pitchFamily="34" charset="-128"/>
              <a:cs typeface="Arial" panose="020B0604020202020204" pitchFamily="34" charset="0"/>
              <a:sym typeface="Montserrat"/>
            </a:endParaRPr>
          </a:p>
          <a:p>
            <a:pPr marL="0" lvl="0" indent="0" algn="l" rtl="0">
              <a:spcBef>
                <a:spcPts val="0"/>
              </a:spcBef>
              <a:spcAft>
                <a:spcPts val="0"/>
              </a:spcAft>
              <a:buNone/>
            </a:pPr>
            <a:r>
              <a:rPr lang="th" sz="3000" b="1" dirty="0">
                <a:solidFill>
                  <a:srgbClr val="222222"/>
                </a:solidFill>
                <a:latin typeface="Yu Gothic" panose="020B0400000000000000" pitchFamily="34" charset="-128"/>
                <a:ea typeface="Yu Gothic" panose="020B0400000000000000" pitchFamily="34" charset="-128"/>
                <a:cs typeface="Montserrat"/>
                <a:sym typeface="Montserrat"/>
              </a:rPr>
              <a:t>AIでスキマバイトを計画的に</a:t>
            </a:r>
            <a:endParaRPr sz="3000" b="1" dirty="0">
              <a:solidFill>
                <a:srgbClr val="222222"/>
              </a:solidFill>
              <a:latin typeface="Yu Gothic" panose="020B0400000000000000" pitchFamily="34" charset="-128"/>
              <a:ea typeface="Yu Gothic" panose="020B0400000000000000" pitchFamily="34" charset="-128"/>
              <a:cs typeface="Arial" panose="020B0604020202020204" pitchFamily="34" charset="0"/>
              <a:sym typeface="Montserrat"/>
            </a:endParaRPr>
          </a:p>
        </p:txBody>
      </p:sp>
      <p:sp>
        <p:nvSpPr>
          <p:cNvPr id="61" name="Google Shape;61;p14"/>
          <p:cNvSpPr txBox="1"/>
          <p:nvPr/>
        </p:nvSpPr>
        <p:spPr>
          <a:xfrm>
            <a:off x="457200" y="2914202"/>
            <a:ext cx="8229600" cy="139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000" b="1">
              <a:solidFill>
                <a:srgbClr val="22222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p:nvPr/>
        </p:nvSpPr>
        <p:spPr>
          <a:xfrm>
            <a:off x="1902338" y="1349875"/>
            <a:ext cx="6790800" cy="1103100"/>
          </a:xfrm>
          <a:prstGeom prst="rect">
            <a:avLst/>
          </a:prstGeom>
          <a:noFill/>
          <a:ln w="28575" cap="flat" cmpd="sng">
            <a:solidFill>
              <a:srgbClr val="2AC1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sp>
        <p:nvSpPr>
          <p:cNvPr id="67" name="Google Shape;67;p15"/>
          <p:cNvSpPr/>
          <p:nvPr/>
        </p:nvSpPr>
        <p:spPr>
          <a:xfrm>
            <a:off x="450938" y="1349975"/>
            <a:ext cx="1451400" cy="1103100"/>
          </a:xfrm>
          <a:prstGeom prst="rect">
            <a:avLst/>
          </a:prstGeom>
          <a:solidFill>
            <a:srgbClr val="2AC1FF"/>
          </a:solidFill>
          <a:ln w="28575" cap="flat" cmpd="sng">
            <a:solidFill>
              <a:srgbClr val="2AC1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th" sz="1200" b="1">
                <a:solidFill>
                  <a:schemeClr val="lt1"/>
                </a:solidFill>
                <a:latin typeface="HiraKakuProN-W3"/>
                <a:ea typeface="HiraKakuProN-W3"/>
                <a:cs typeface="HiraKakuProN-W3"/>
                <a:sym typeface="HiraKakuProN-W3"/>
              </a:rPr>
              <a:t>Summary  </a:t>
            </a:r>
            <a:endParaRPr sz="1200" b="1">
              <a:solidFill>
                <a:schemeClr val="lt1"/>
              </a:solidFill>
              <a:latin typeface="HiraKakuProN-W3"/>
              <a:ea typeface="HiraKakuProN-W3"/>
              <a:cs typeface="HiraKakuProN-W3"/>
              <a:sym typeface="HiraKakuProN-W3"/>
            </a:endParaRPr>
          </a:p>
          <a:p>
            <a:pPr marL="0" marR="0" lvl="0" indent="0" algn="ctr" rtl="0">
              <a:spcBef>
                <a:spcPts val="0"/>
              </a:spcBef>
              <a:spcAft>
                <a:spcPts val="0"/>
              </a:spcAft>
              <a:buNone/>
            </a:pPr>
            <a:r>
              <a:rPr lang="th" sz="900" b="1">
                <a:solidFill>
                  <a:schemeClr val="lt1"/>
                </a:solidFill>
                <a:latin typeface="HiraKakuProN-W3"/>
                <a:ea typeface="HiraKakuProN-W3"/>
                <a:cs typeface="HiraKakuProN-W3"/>
                <a:sym typeface="HiraKakuProN-W3"/>
              </a:rPr>
              <a:t>Product / Features</a:t>
            </a:r>
            <a:endParaRPr sz="900" b="1">
              <a:solidFill>
                <a:schemeClr val="lt1"/>
              </a:solidFill>
              <a:latin typeface="HiraKakuProN-W3"/>
              <a:ea typeface="HiraKakuProN-W3"/>
              <a:cs typeface="HiraKakuProN-W3"/>
              <a:sym typeface="HiraKakuProN-W3"/>
            </a:endParaRPr>
          </a:p>
        </p:txBody>
      </p:sp>
      <p:sp>
        <p:nvSpPr>
          <p:cNvPr id="68" name="Google Shape;68;p15"/>
          <p:cNvSpPr/>
          <p:nvPr/>
        </p:nvSpPr>
        <p:spPr>
          <a:xfrm>
            <a:off x="2297038" y="1278700"/>
            <a:ext cx="6395700" cy="11742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th" b="1" dirty="0">
                <a:solidFill>
                  <a:srgbClr val="2AC1FF"/>
                </a:solidFill>
              </a:rPr>
              <a:t>AI</a:t>
            </a:r>
            <a:r>
              <a:rPr lang="th" sz="1400" b="1" dirty="0">
                <a:solidFill>
                  <a:srgbClr val="2AC1FF"/>
                </a:solidFill>
              </a:rPr>
              <a:t>を活用して</a:t>
            </a:r>
            <a:r>
              <a:rPr lang="th" sz="1400" b="1" dirty="0">
                <a:solidFill>
                  <a:srgbClr val="2AC1FF"/>
                </a:solidFill>
                <a:latin typeface="Arial"/>
                <a:ea typeface="Arial"/>
                <a:cs typeface="Arial"/>
                <a:sym typeface="Arial"/>
              </a:rPr>
              <a:t>スキマバイトのスケジュールを</a:t>
            </a:r>
            <a:r>
              <a:rPr lang="th" sz="1400" b="1" dirty="0">
                <a:solidFill>
                  <a:srgbClr val="2AC1FF"/>
                </a:solidFill>
              </a:rPr>
              <a:t>提案する機能</a:t>
            </a:r>
            <a:endParaRPr sz="1400" b="1" dirty="0">
              <a:solidFill>
                <a:srgbClr val="2AC1FF"/>
              </a:solidFill>
              <a:latin typeface="Arial"/>
              <a:ea typeface="Arial"/>
              <a:cs typeface="Arial"/>
              <a:sym typeface="Arial"/>
            </a:endParaRPr>
          </a:p>
        </p:txBody>
      </p:sp>
      <p:sp>
        <p:nvSpPr>
          <p:cNvPr id="69" name="Google Shape;69;p15"/>
          <p:cNvSpPr txBox="1"/>
          <p:nvPr/>
        </p:nvSpPr>
        <p:spPr>
          <a:xfrm>
            <a:off x="616050" y="871400"/>
            <a:ext cx="4531500" cy="366900"/>
          </a:xfrm>
          <a:prstGeom prst="rect">
            <a:avLst/>
          </a:prstGeom>
          <a:noFill/>
          <a:ln>
            <a:noFill/>
          </a:ln>
        </p:spPr>
        <p:txBody>
          <a:bodyPr spcFirstLastPara="1" wrap="square" lIns="91425" tIns="91425" rIns="91425" bIns="91425" anchor="ctr" anchorCtr="0">
            <a:noAutofit/>
          </a:bodyPr>
          <a:lstStyle/>
          <a:p>
            <a:pPr marL="0" marR="0" lvl="0" indent="0" algn="l" rtl="0">
              <a:lnSpc>
                <a:spcPct val="150000"/>
              </a:lnSpc>
              <a:spcBef>
                <a:spcPts val="0"/>
              </a:spcBef>
              <a:spcAft>
                <a:spcPts val="0"/>
              </a:spcAft>
              <a:buNone/>
            </a:pPr>
            <a:r>
              <a:rPr lang="th" sz="1200" b="1" dirty="0">
                <a:solidFill>
                  <a:schemeClr val="dk1"/>
                </a:solidFill>
                <a:latin typeface="HiraKakuProN-W3"/>
                <a:ea typeface="HiraKakuProN-W3"/>
                <a:cs typeface="HiraKakuProN-W3"/>
                <a:sym typeface="HiraKakuProN-W3"/>
              </a:rPr>
              <a:t>本資料で提案するプロダクト / 機能について</a:t>
            </a:r>
            <a:endParaRPr sz="1400" dirty="0">
              <a:solidFill>
                <a:schemeClr val="dk1"/>
              </a:solidFill>
              <a:latin typeface="HiraKakuProN-W3"/>
              <a:ea typeface="HiraKakuProN-W3"/>
              <a:cs typeface="HiraKakuProN-W3"/>
              <a:sym typeface="HiraKakuProN-W3"/>
            </a:endParaRPr>
          </a:p>
        </p:txBody>
      </p:sp>
      <p:sp>
        <p:nvSpPr>
          <p:cNvPr id="70" name="Google Shape;70;p15"/>
          <p:cNvSpPr/>
          <p:nvPr/>
        </p:nvSpPr>
        <p:spPr>
          <a:xfrm>
            <a:off x="1902113" y="2597870"/>
            <a:ext cx="6790800" cy="19419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p:txBody>
      </p:sp>
      <p:sp>
        <p:nvSpPr>
          <p:cNvPr id="71" name="Google Shape;71;p15"/>
          <p:cNvSpPr/>
          <p:nvPr/>
        </p:nvSpPr>
        <p:spPr>
          <a:xfrm>
            <a:off x="450863" y="2597872"/>
            <a:ext cx="1451400" cy="1941900"/>
          </a:xfrm>
          <a:prstGeom prst="rect">
            <a:avLst/>
          </a:prstGeom>
          <a:solidFill>
            <a:srgbClr val="FF0000"/>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None/>
            </a:pPr>
            <a:r>
              <a:rPr lang="th" sz="1200" b="1">
                <a:solidFill>
                  <a:schemeClr val="lt1"/>
                </a:solidFill>
                <a:latin typeface="HiraKakuProN-W3"/>
                <a:ea typeface="HiraKakuProN-W3"/>
                <a:cs typeface="HiraKakuProN-W3"/>
                <a:sym typeface="HiraKakuProN-W3"/>
              </a:rPr>
              <a:t>Overview</a:t>
            </a:r>
            <a:endParaRPr sz="1200" b="1">
              <a:solidFill>
                <a:schemeClr val="lt1"/>
              </a:solidFill>
              <a:latin typeface="HiraKakuProN-W3"/>
              <a:ea typeface="HiraKakuProN-W3"/>
              <a:cs typeface="HiraKakuProN-W3"/>
              <a:sym typeface="HiraKakuProN-W3"/>
            </a:endParaRPr>
          </a:p>
        </p:txBody>
      </p:sp>
      <p:sp>
        <p:nvSpPr>
          <p:cNvPr id="72" name="Google Shape;72;p15"/>
          <p:cNvSpPr/>
          <p:nvPr/>
        </p:nvSpPr>
        <p:spPr>
          <a:xfrm>
            <a:off x="2142809" y="2690526"/>
            <a:ext cx="6704157" cy="1941900"/>
          </a:xfrm>
          <a:prstGeom prst="rect">
            <a:avLst/>
          </a:prstGeom>
          <a:noFill/>
          <a:ln>
            <a:noFill/>
          </a:ln>
        </p:spPr>
        <p:txBody>
          <a:bodyPr spcFirstLastPara="1" wrap="square" lIns="91425" tIns="91425" rIns="91425" bIns="91425" anchor="ctr" anchorCtr="0">
            <a:noAutofit/>
          </a:bodyPr>
          <a:lstStyle/>
          <a:p>
            <a:pPr marL="0" marR="0" lvl="0" indent="0" algn="l" rtl="0">
              <a:lnSpc>
                <a:spcPct val="200000"/>
              </a:lnSpc>
              <a:spcBef>
                <a:spcPts val="0"/>
              </a:spcBef>
              <a:spcAft>
                <a:spcPts val="0"/>
              </a:spcAft>
              <a:buNone/>
            </a:pPr>
            <a:r>
              <a:rPr lang="th" sz="1000" dirty="0">
                <a:solidFill>
                  <a:schemeClr val="dk1"/>
                </a:solidFill>
                <a:sym typeface="Arial"/>
              </a:rPr>
              <a:t>✔️ </a:t>
            </a:r>
            <a:r>
              <a:rPr lang="th" sz="1000" b="1" dirty="0">
                <a:solidFill>
                  <a:srgbClr val="FF0000"/>
                </a:solidFill>
                <a:sym typeface="Arial"/>
              </a:rPr>
              <a:t>［背景 / Background］</a:t>
            </a:r>
            <a:r>
              <a:rPr lang="th" sz="1000" b="1" dirty="0">
                <a:solidFill>
                  <a:srgbClr val="FF0000"/>
                </a:solidFill>
              </a:rPr>
              <a:t>：</a:t>
            </a:r>
            <a:endParaRPr sz="1000" b="1" dirty="0">
              <a:solidFill>
                <a:srgbClr val="FF0000"/>
              </a:solidFill>
            </a:endParaRPr>
          </a:p>
          <a:p>
            <a:pPr marL="0" marR="0" lvl="0" indent="0" algn="l" rtl="0">
              <a:lnSpc>
                <a:spcPct val="200000"/>
              </a:lnSpc>
              <a:spcBef>
                <a:spcPts val="0"/>
              </a:spcBef>
              <a:spcAft>
                <a:spcPts val="0"/>
              </a:spcAft>
              <a:buNone/>
            </a:pPr>
            <a:r>
              <a:rPr lang="th" sz="1000" b="1" dirty="0">
                <a:solidFill>
                  <a:schemeClr val="dk1"/>
                </a:solidFill>
              </a:rPr>
              <a:t>急な出費が重なり、とにかく早くお金を稼ぎたい。でも、自分の空き時間に合うバイトを見つけるのが大変...</a:t>
            </a:r>
            <a:endParaRPr sz="1000" b="1" dirty="0">
              <a:solidFill>
                <a:schemeClr val="dk1"/>
              </a:solidFill>
            </a:endParaRPr>
          </a:p>
          <a:p>
            <a:pPr marL="0" marR="0" lvl="0" indent="0" algn="l" rtl="0">
              <a:lnSpc>
                <a:spcPct val="200000"/>
              </a:lnSpc>
              <a:spcBef>
                <a:spcPts val="0"/>
              </a:spcBef>
              <a:spcAft>
                <a:spcPts val="0"/>
              </a:spcAft>
              <a:buNone/>
            </a:pPr>
            <a:r>
              <a:rPr lang="th" sz="1000" dirty="0">
                <a:solidFill>
                  <a:schemeClr val="dk1"/>
                </a:solidFill>
                <a:sym typeface="Arial"/>
              </a:rPr>
              <a:t>✔️ </a:t>
            </a:r>
            <a:r>
              <a:rPr lang="th" sz="1000" b="1" dirty="0">
                <a:solidFill>
                  <a:srgbClr val="FF0000"/>
                </a:solidFill>
                <a:sym typeface="Arial"/>
              </a:rPr>
              <a:t>［何をやるか / What we do］ </a:t>
            </a:r>
            <a:r>
              <a:rPr lang="th" sz="1000" b="1" dirty="0">
                <a:solidFill>
                  <a:srgbClr val="FF0000"/>
                </a:solidFill>
              </a:rPr>
              <a:t>：</a:t>
            </a:r>
            <a:endParaRPr sz="1000" b="1" dirty="0">
              <a:solidFill>
                <a:srgbClr val="FF0000"/>
              </a:solidFill>
            </a:endParaRPr>
          </a:p>
          <a:p>
            <a:pPr marL="0" marR="0" lvl="0" indent="0" algn="l" rtl="0">
              <a:lnSpc>
                <a:spcPct val="200000"/>
              </a:lnSpc>
              <a:spcBef>
                <a:spcPts val="0"/>
              </a:spcBef>
              <a:spcAft>
                <a:spcPts val="0"/>
              </a:spcAft>
              <a:buNone/>
            </a:pPr>
            <a:r>
              <a:rPr lang="th" sz="1000" b="1" dirty="0">
                <a:solidFill>
                  <a:schemeClr val="dk1"/>
                </a:solidFill>
              </a:rPr>
              <a:t>自分のスケジュールのスキマ時間におしごとを入れてくれる</a:t>
            </a:r>
            <a:endParaRPr sz="1000" b="1" dirty="0">
              <a:solidFill>
                <a:schemeClr val="dk1"/>
              </a:solidFill>
              <a:sym typeface="Arial"/>
            </a:endParaRPr>
          </a:p>
          <a:p>
            <a:pPr marL="0" marR="0" lvl="0" indent="0" algn="l" rtl="0">
              <a:lnSpc>
                <a:spcPct val="200000"/>
              </a:lnSpc>
              <a:spcBef>
                <a:spcPts val="0"/>
              </a:spcBef>
              <a:spcAft>
                <a:spcPts val="0"/>
              </a:spcAft>
              <a:buNone/>
            </a:pPr>
            <a:r>
              <a:rPr lang="th" sz="1000" dirty="0">
                <a:solidFill>
                  <a:schemeClr val="dk1"/>
                </a:solidFill>
                <a:sym typeface="Arial"/>
              </a:rPr>
              <a:t>✔️ </a:t>
            </a:r>
            <a:r>
              <a:rPr lang="th" sz="1000" b="1" dirty="0">
                <a:solidFill>
                  <a:srgbClr val="FF0000"/>
                </a:solidFill>
                <a:sym typeface="Arial"/>
              </a:rPr>
              <a:t>［なぜうまくいくか / Why it works ］</a:t>
            </a:r>
            <a:r>
              <a:rPr lang="th" sz="1000" b="1" dirty="0">
                <a:solidFill>
                  <a:srgbClr val="FF0000"/>
                </a:solidFill>
              </a:rPr>
              <a:t>：</a:t>
            </a:r>
            <a:endParaRPr sz="1000" b="1" dirty="0">
              <a:solidFill>
                <a:srgbClr val="FF0000"/>
              </a:solidFill>
            </a:endParaRPr>
          </a:p>
          <a:p>
            <a:pPr marL="0" lvl="0" indent="0" algn="l" rtl="0">
              <a:lnSpc>
                <a:spcPct val="200000"/>
              </a:lnSpc>
              <a:spcBef>
                <a:spcPts val="0"/>
              </a:spcBef>
              <a:spcAft>
                <a:spcPts val="0"/>
              </a:spcAft>
              <a:buClr>
                <a:schemeClr val="dk1"/>
              </a:buClr>
              <a:buFont typeface="Arial"/>
              <a:buNone/>
            </a:pPr>
            <a:r>
              <a:rPr lang="th" sz="1000" b="1" dirty="0">
                <a:solidFill>
                  <a:schemeClr val="dk1"/>
                </a:solidFill>
              </a:rPr>
              <a:t>AIがその人にあった働くプランを提示してくれるので自力でおしごとを探す手間が減る</a:t>
            </a:r>
            <a:endParaRPr sz="1000" b="1" dirty="0">
              <a:solidFill>
                <a:srgbClr val="FF0000"/>
              </a:solidFill>
            </a:endParaRPr>
          </a:p>
          <a:p>
            <a:pPr marL="0" marR="0" lvl="0" indent="0" algn="l" rtl="0">
              <a:lnSpc>
                <a:spcPct val="200000"/>
              </a:lnSpc>
              <a:spcBef>
                <a:spcPts val="0"/>
              </a:spcBef>
              <a:spcAft>
                <a:spcPts val="0"/>
              </a:spcAft>
              <a:buNone/>
            </a:pPr>
            <a:endParaRPr sz="1000" b="1" dirty="0">
              <a:solidFill>
                <a:schemeClr val="dk1"/>
              </a:solidFill>
            </a:endParaRPr>
          </a:p>
        </p:txBody>
      </p:sp>
      <p:sp>
        <p:nvSpPr>
          <p:cNvPr id="73" name="Google Shape;73;p15"/>
          <p:cNvSpPr/>
          <p:nvPr/>
        </p:nvSpPr>
        <p:spPr>
          <a:xfrm rot="5400951">
            <a:off x="1476937" y="1802433"/>
            <a:ext cx="1084500" cy="216000"/>
          </a:xfrm>
          <a:prstGeom prst="triangle">
            <a:avLst>
              <a:gd name="adj" fmla="val 48537"/>
            </a:avLst>
          </a:prstGeom>
          <a:solidFill>
            <a:srgbClr val="2AC1FF"/>
          </a:solidFill>
          <a:ln w="9525" cap="flat" cmpd="sng">
            <a:solidFill>
              <a:srgbClr val="2AC1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74" name="Google Shape;74;p15"/>
          <p:cNvSpPr/>
          <p:nvPr/>
        </p:nvSpPr>
        <p:spPr>
          <a:xfrm rot="5400536">
            <a:off x="1057376" y="3440042"/>
            <a:ext cx="1923900" cy="216000"/>
          </a:xfrm>
          <a:prstGeom prst="triangle">
            <a:avLst>
              <a:gd name="adj" fmla="val 48537"/>
            </a:avLst>
          </a:prstGeom>
          <a:solidFill>
            <a:srgbClr val="FF0000"/>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75" name="Google Shape;75;p15"/>
          <p:cNvSpPr/>
          <p:nvPr/>
        </p:nvSpPr>
        <p:spPr>
          <a:xfrm>
            <a:off x="730650" y="675143"/>
            <a:ext cx="429900" cy="42900"/>
          </a:xfrm>
          <a:prstGeom prst="rect">
            <a:avLst/>
          </a:prstGeom>
          <a:solidFill>
            <a:srgbClr val="2AC1FF"/>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76" name="Google Shape;76;p15"/>
          <p:cNvSpPr txBox="1"/>
          <p:nvPr/>
        </p:nvSpPr>
        <p:spPr>
          <a:xfrm>
            <a:off x="616050" y="260150"/>
            <a:ext cx="3711600" cy="3669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th" sz="1800" b="1" dirty="0">
                <a:solidFill>
                  <a:srgbClr val="000000"/>
                </a:solidFill>
                <a:latin typeface="Montserrat"/>
                <a:ea typeface="Montserrat"/>
                <a:cs typeface="Montserrat"/>
                <a:sym typeface="Montserrat"/>
              </a:rPr>
              <a:t>Executive Summary｜</a:t>
            </a:r>
            <a:r>
              <a:rPr lang="th" sz="1800" b="1" dirty="0">
                <a:solidFill>
                  <a:srgbClr val="000000"/>
                </a:solidFill>
                <a:latin typeface="HiraMaruPro-W4"/>
                <a:ea typeface="HiraMaruPro-W4"/>
                <a:cs typeface="HiraMaruPro-W4"/>
                <a:sym typeface="HiraMaruPro-W4"/>
              </a:rPr>
              <a:t>要旨</a:t>
            </a:r>
            <a:endParaRPr sz="1800" b="1" dirty="0">
              <a:solidFill>
                <a:srgbClr val="000000"/>
              </a:solidFill>
              <a:latin typeface="HiraMaruPro-W4"/>
              <a:ea typeface="HiraMaruPro-W4"/>
              <a:cs typeface="HiraMaruPro-W4"/>
              <a:sym typeface="HiraMaruPro-W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82" name="Google Shape;82;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83" name="Google Shape;83;p1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9" name="Google Shape;8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0" name="Google Shape;90;p17"/>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91" name="Google Shape;91;p17"/>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7" name="Google Shape;9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8" name="Google Shape;98;p1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4" name="Google Shape;10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5" name="Google Shape;105;p1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1" name="Google Shape;111;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2" name="Google Shape;112;p2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8" name="Google Shape;11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9" name="Google Shape;119;p2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5" name="Google Shape;12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6" name="Google Shape;126;p2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2" name="Google Shape;132;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3" name="Google Shape;133;p23" title="モックアップ">
            <a:hlinkClick r:id="rId3"/>
          </p:cNvPr>
          <p:cNvPicPr preferRelativeResize="0"/>
          <p:nvPr/>
        </p:nvPicPr>
        <p:blipFill>
          <a:blip r:embed="rId4">
            <a:alphaModFix/>
          </a:blip>
          <a:stretch>
            <a:fillRect/>
          </a:stretch>
        </p:blipFill>
        <p:spPr>
          <a:xfrm>
            <a:off x="0" y="0"/>
            <a:ext cx="9144000" cy="5143500"/>
          </a:xfrm>
          <a:prstGeom prst="rect">
            <a:avLst/>
          </a:prstGeom>
          <a:noFill/>
          <a:ln>
            <a:noFill/>
          </a:ln>
          <a:effectLst>
            <a:outerShdw blurRad="57150" dist="19050" dir="5400000" algn="bl" rotWithShape="0">
              <a:srgbClr val="000000">
                <a:alpha val="5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10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9" name="Google Shape;139;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0" name="Google Shape;140;p24" title="デモ発表 改訂版">
            <a:hlinkClick r:id="rId3"/>
          </p:cNvPr>
          <p:cNvPicPr preferRelativeResize="0"/>
          <p:nvPr/>
        </p:nvPicPr>
        <p:blipFill>
          <a:blip r:embed="rId4">
            <a:alphaModFix/>
          </a:blip>
          <a:stretch>
            <a:fillRect/>
          </a:stretch>
        </p:blipFill>
        <p:spPr>
          <a:xfrm>
            <a:off x="0" y="12600"/>
            <a:ext cx="9121600" cy="5130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10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6" name="Google Shape;14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7" name="Google Shape;147;p2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3" name="Google Shape;153;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4" name="Google Shape;154;p2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0" name="Google Shape;160;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1" name="Google Shape;161;p2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7" name="Google Shape;16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8" name="Google Shape;168;p28"/>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69" name="Google Shape;169;p28"/>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5" name="Google Shape;175;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6" name="Google Shape;176;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82" name="Google Shape;182;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83" name="Google Shape;183;p3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59</Words>
  <Application>Microsoft Macintosh PowerPoint</Application>
  <PresentationFormat>On-screen Show (16:9)</PresentationFormat>
  <Paragraphs>15</Paragraphs>
  <Slides>17</Slides>
  <Notes>17</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HiraKakuProN-W3</vt:lpstr>
      <vt:lpstr>HiraMaruPro-W4</vt:lpstr>
      <vt:lpstr>Montserrat</vt:lpstr>
      <vt:lpstr>Arial</vt:lpstr>
      <vt:lpstr>Yu Gothic</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ac24108_茨城</cp:lastModifiedBy>
  <cp:revision>3</cp:revision>
  <dcterms:modified xsi:type="dcterms:W3CDTF">2025-08-24T05:47:15Z</dcterms:modified>
</cp:coreProperties>
</file>